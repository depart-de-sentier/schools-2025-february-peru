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6"/>
  </p:notesMasterIdLst>
  <p:handoutMasterIdLst>
    <p:handoutMasterId r:id="rId17"/>
  </p:handoutMasterIdLst>
  <p:sldIdLst>
    <p:sldId id="328" r:id="rId5"/>
    <p:sldId id="330" r:id="rId6"/>
    <p:sldId id="331" r:id="rId7"/>
    <p:sldId id="329" r:id="rId8"/>
    <p:sldId id="332" r:id="rId9"/>
    <p:sldId id="333" r:id="rId10"/>
    <p:sldId id="334" r:id="rId11"/>
    <p:sldId id="335" r:id="rId12"/>
    <p:sldId id="336" r:id="rId13"/>
    <p:sldId id="337" r:id="rId14"/>
    <p:sldId id="338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C0059"/>
    <a:srgbClr val="000073"/>
    <a:srgbClr val="F1E8EF"/>
    <a:srgbClr val="F0F0F0"/>
    <a:srgbClr val="CBCCF5"/>
    <a:srgbClr val="E7E7FA"/>
    <a:srgbClr val="EBE7F9"/>
    <a:srgbClr val="D5CCF2"/>
    <a:srgbClr val="FF66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4" autoAdjust="0"/>
    <p:restoredTop sz="72122" autoAdjust="0"/>
  </p:normalViewPr>
  <p:slideViewPr>
    <p:cSldViewPr showGuides="1">
      <p:cViewPr varScale="1">
        <p:scale>
          <a:sx n="91" d="100"/>
          <a:sy n="91" d="100"/>
        </p:scale>
        <p:origin x="1320" y="90"/>
      </p:cViewPr>
      <p:guideLst/>
    </p:cSldViewPr>
  </p:slideViewPr>
  <p:outlineViewPr>
    <p:cViewPr>
      <p:scale>
        <a:sx n="33" d="100"/>
        <a:sy n="33" d="100"/>
      </p:scale>
      <p:origin x="0" y="-266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538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03.02.2025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03.02.2025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Life cycle greenhouse gas emission values from the literature review (n = 167), by 5-year interval of publication date, reactor technology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type, and enrichment method. Median, sample size, and potential outliers are provided for each series of each category. BWR = </a:t>
            </a:r>
            <a:r>
              <a:rPr lang="en-US" b="1" dirty="0">
                <a:effectLst/>
                <a:latin typeface="Arial" panose="020B0604020202020204" pitchFamily="34" charset="0"/>
              </a:rPr>
              <a:t>boiling water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reactor, LWR = </a:t>
            </a:r>
            <a:r>
              <a:rPr lang="en-US" b="1" dirty="0">
                <a:effectLst/>
                <a:latin typeface="Arial" panose="020B0604020202020204" pitchFamily="34" charset="0"/>
              </a:rPr>
              <a:t>light water reactor </a:t>
            </a:r>
            <a:r>
              <a:rPr lang="en-US" dirty="0">
                <a:effectLst/>
                <a:latin typeface="Arial" panose="020B0604020202020204" pitchFamily="34" charset="0"/>
              </a:rPr>
              <a:t>(unspecified BWR or PWR), PWR = </a:t>
            </a:r>
            <a:r>
              <a:rPr lang="en-US" b="1" dirty="0">
                <a:effectLst/>
                <a:latin typeface="Arial" panose="020B0604020202020204" pitchFamily="34" charset="0"/>
              </a:rPr>
              <a:t>pressurized water reactor</a:t>
            </a:r>
            <a:r>
              <a:rPr lang="en-US" dirty="0">
                <a:effectLst/>
                <a:latin typeface="Arial" panose="020B0604020202020204" pitchFamily="34" charset="0"/>
              </a:rPr>
              <a:t>, FBR = fast breeder reactor, HWR = </a:t>
            </a:r>
            <a:r>
              <a:rPr lang="en-US" b="1" dirty="0">
                <a:effectLst/>
                <a:latin typeface="Arial" panose="020B0604020202020204" pitchFamily="34" charset="0"/>
              </a:rPr>
              <a:t>heavy water</a:t>
            </a:r>
            <a:br>
              <a:rPr lang="en-US" b="1" dirty="0">
                <a:effectLst/>
                <a:latin typeface="Arial" panose="020B0604020202020204" pitchFamily="34" charset="0"/>
              </a:rPr>
            </a:br>
            <a:r>
              <a:rPr lang="en-US" b="1" dirty="0">
                <a:effectLst/>
                <a:latin typeface="Arial" panose="020B0604020202020204" pitchFamily="34" charset="0"/>
              </a:rPr>
              <a:t>reactor</a:t>
            </a:r>
            <a:r>
              <a:rPr lang="en-US" dirty="0">
                <a:effectLst/>
                <a:latin typeface="Arial" panose="020B0604020202020204" pitchFamily="34" charset="0"/>
              </a:rPr>
              <a:t>, GCR = </a:t>
            </a:r>
            <a:r>
              <a:rPr lang="en-US" b="1" dirty="0">
                <a:effectLst/>
                <a:latin typeface="Arial" panose="020B0604020202020204" pitchFamily="34" charset="0"/>
              </a:rPr>
              <a:t>gas-cooled reactor</a:t>
            </a:r>
            <a:r>
              <a:rPr lang="en-US" dirty="0">
                <a:effectLst/>
                <a:latin typeface="Arial" panose="020B0604020202020204" pitchFamily="34" charset="0"/>
              </a:rPr>
              <a:t>, and EPR = </a:t>
            </a:r>
            <a:r>
              <a:rPr lang="en-US" b="1" dirty="0">
                <a:effectLst/>
                <a:latin typeface="Arial" panose="020B0604020202020204" pitchFamily="34" charset="0"/>
              </a:rPr>
              <a:t>evolutionary power reactor</a:t>
            </a:r>
            <a:r>
              <a:rPr lang="en-US" dirty="0">
                <a:effectLst/>
                <a:latin typeface="Arial" panose="020B0604020202020204" pitchFamily="34" charset="0"/>
              </a:rPr>
              <a:t>.</a:t>
            </a:r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30932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enfasis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que primero </a:t>
            </a:r>
            <a:r>
              <a:rPr lang="en-US" dirty="0" err="1"/>
              <a:t>hemos</a:t>
            </a:r>
            <a:r>
              <a:rPr lang="en-US" dirty="0"/>
              <a:t> </a:t>
            </a:r>
            <a:r>
              <a:rPr lang="en-US" dirty="0" err="1"/>
              <a:t>construido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inventarios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BRIGHTWAY,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Excel que </a:t>
            </a:r>
            <a:r>
              <a:rPr lang="en-US" dirty="0" err="1"/>
              <a:t>hemos</a:t>
            </a:r>
            <a:r>
              <a:rPr lang="en-US" dirty="0"/>
              <a:t> visto </a:t>
            </a:r>
            <a:r>
              <a:rPr lang="en-US" dirty="0" err="1"/>
              <a:t>durante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curso</a:t>
            </a:r>
            <a:r>
              <a:rPr lang="en-US" dirty="0"/>
              <a:t>.</a:t>
            </a:r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7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26308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First-order Sobol indices quantifying the contribution of each input parameter to the total variance of each impact category for the full</a:t>
            </a:r>
            <a:br>
              <a:rPr lang="en-US" dirty="0"/>
            </a:br>
            <a:r>
              <a:rPr lang="en-US" dirty="0">
                <a:effectLst/>
                <a:latin typeface="Arial" panose="020B0604020202020204" pitchFamily="34" charset="0"/>
              </a:rPr>
              <a:t>model, enrichment set to centrifugation and to gaseous diffusion</a:t>
            </a:r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9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51789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85165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E7B40F6-0846-6406-28FC-523CF76DA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6" y="1558"/>
            <a:ext cx="12189228" cy="685488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03EDDF5-0688-3946-B33B-41892CA0C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A74AB44-A37E-131D-7BC4-3033AC45E5F1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8"/>
          <a:stretch/>
        </p:blipFill>
        <p:spPr>
          <a:xfrm>
            <a:off x="2532062" y="536044"/>
            <a:ext cx="1690509" cy="37938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854"/>
            <a:ext cx="8045451" cy="200799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</p:spTree>
    <p:extLst>
      <p:ext uri="{BB962C8B-B14F-4D97-AF65-F5344CB8AC3E}">
        <p14:creationId xmlns:p14="http://schemas.microsoft.com/office/powerpoint/2010/main" val="421082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Dark Blu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38B4CC7-4229-EEF9-D03A-D0C0BD398B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" y="1948"/>
            <a:ext cx="12190615" cy="685566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464"/>
            <a:ext cx="8045451" cy="200838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A1A0EB6-6787-66B7-839C-B8C9CE487C0B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8"/>
          <a:stretch/>
        </p:blipFill>
        <p:spPr>
          <a:xfrm>
            <a:off x="2532062" y="536044"/>
            <a:ext cx="1690509" cy="37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61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E6538B63-A40B-2238-426D-2D6DC8B5A9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" y="1948"/>
            <a:ext cx="12190615" cy="685566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464"/>
            <a:ext cx="8045451" cy="200838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8D0CA88-6CB9-96EF-A545-083000EA4E6B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8"/>
          <a:stretch/>
        </p:blipFill>
        <p:spPr>
          <a:xfrm>
            <a:off x="2532062" y="536044"/>
            <a:ext cx="1690509" cy="37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89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BA2BBC0-91C4-A383-E617-A518199B85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7412"/>
            <a:ext cx="5292725" cy="2006436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781309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8FD507A-2C45-F79E-8E9E-9BA37C9723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49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40AB248-B157-35A3-8FF9-E4767AB90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7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Pin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77F36C0-0DD8-2E8F-7E45-9499E236E2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51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975FE4-7566-C540-B921-37FD0122867B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50825" indent="-250825"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 dirty="0"/>
              <a:t>Section Heading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6DA47E-D7F3-07E8-00B3-57D325A007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5134" y="305378"/>
            <a:ext cx="881465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5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1BE4B7-5804-8E47-93CD-6CE519BF289F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50825" indent="-250825"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 dirty="0"/>
              <a:t>Section Heading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6DA47E-D7F3-07E8-00B3-57D325A007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5134" y="305378"/>
            <a:ext cx="881465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4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938E-3556-5145-86AF-A875F2940B77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/>
            </a:lvl1pPr>
            <a:lvl2pPr marL="0" indent="0">
              <a:buFontTx/>
              <a:buNone/>
              <a:defRPr/>
            </a:lvl2pPr>
            <a:lvl3pPr marL="250825" indent="-250825">
              <a:defRPr/>
            </a:lvl3pPr>
          </a:lstStyle>
          <a:p>
            <a:pPr lvl="0"/>
            <a:r>
              <a:rPr lang="en-GB" noProof="0" dirty="0"/>
              <a:t>Section Heading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3975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Yello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55E5-0CC5-5648-B727-886DF9E15362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/>
            </a:lvl1pPr>
            <a:lvl2pPr marL="0" indent="0">
              <a:buFontTx/>
              <a:buNone/>
              <a:defRPr/>
            </a:lvl2pPr>
            <a:lvl3pPr marL="250825" indent="-250825">
              <a:defRPr/>
            </a:lvl3pPr>
          </a:lstStyle>
          <a:p>
            <a:pPr lvl="0"/>
            <a:r>
              <a:rPr lang="en-GB" noProof="0" dirty="0"/>
              <a:t>Section Heading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22531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8964613" cy="4644616"/>
          </a:xfrm>
        </p:spPr>
        <p:txBody>
          <a:bodyPr/>
          <a:lstStyle>
            <a:lvl1pPr defTabSz="984250">
              <a:tabLst>
                <a:tab pos="536575" algn="l"/>
              </a:tabLst>
              <a:defRPr/>
            </a:lvl1pPr>
            <a:lvl2pPr>
              <a:tabLst>
                <a:tab pos="536575" algn="l"/>
              </a:tabLst>
              <a:defRPr/>
            </a:lvl2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2A4D-8573-7242-8621-C46C5CDCB93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A939BEE7-204C-1008-67F3-C8FC6E64E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tra w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10801349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67FB-9760-AB48-99CD-EF4F3137487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53F1D1F-4715-2A93-2AEA-4930C8E069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72"/>
          <a:stretch/>
        </p:blipFill>
        <p:spPr bwMode="auto">
          <a:xfrm>
            <a:off x="10218713" y="551942"/>
            <a:ext cx="1781943" cy="88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109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5291476" cy="464461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4D11-A3F5-D441-9CAA-CD946194A156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3327075-DC64-5DAB-E02B-8A18CBF5A99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05201" y="1376773"/>
            <a:ext cx="5291474" cy="464461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8788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5292725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65AB-6DAD-C94A-BD3A-8AA40ABCC208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48" y="1449389"/>
            <a:ext cx="5292725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599391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203950" y="1376773"/>
            <a:ext cx="5292724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AD1-4A4D-024A-993A-701F6263AF0A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813573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024D5AC-18B7-42A0-8763-5161D9B6B2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5" y="1449389"/>
            <a:ext cx="8964613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5ECE0D3-46B3-B247-BBD2-236D6CA24ACA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7D13-378F-E944-A54D-4F247E53A368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4571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1449389"/>
            <a:ext cx="5292725" cy="4571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1529325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EFBE2-CB65-1A45-A2C3-1C07D0551234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7129461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F99B93C7-FD88-F860-2772-AA3BFEC82D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37062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77EA-2FDA-9B41-A7FC-8C8A6E5ACDC4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3457575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5A45EC1-6C70-C75B-70A0-557B1FE6DA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72432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F0A3-C240-534E-8B9F-474ABEE16096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7213" y="3843389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772A35F-591D-5A80-72BC-28B068C3A5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9204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7ED1-1D6B-A049-9A13-2F1CFBFBD2E8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17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7213" y="3843389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CE065AA4-86F5-4BAD-ED9D-98129FDEFEF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40688" y="3843387"/>
            <a:ext cx="3455986" cy="2178001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089D7F61-76FC-5B15-D914-2BB427BF71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3834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4779-E537-8A48-9F15-6922E9BFA433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ED849DD-27BF-60D5-0E2A-BC6C9A827A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7129463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CA68BBC-536B-0C49-B239-F2A8A8ACB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10008472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wid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C597-85EF-F34B-B162-D8569E97104C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17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CE065AA4-86F5-4BAD-ED9D-98129FDEFEF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40688" y="3843387"/>
            <a:ext cx="3455986" cy="2178001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ED849DD-27BF-60D5-0E2A-BC6C9A827A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7129463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91598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B874C-9D86-F141-A53C-6091AA47ED5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1449389"/>
            <a:ext cx="5292725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47A0213-C397-B258-EE3A-69DBB54DD3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4553982"/>
            <a:ext cx="5291476" cy="146740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DE0905A-F588-783E-2408-3EEBCC47B7C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05201" y="4553982"/>
            <a:ext cx="5291474" cy="146740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1268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4BF7D-6AF2-2043-AC14-B65A632B6661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987724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11B3F6C3-759F-AE0A-F24C-FF78D18C5F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5" y="1449388"/>
            <a:ext cx="3457575" cy="2987724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D982B28-131F-0EF1-DBEF-7E5426DA6F8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368801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3A5C3130-D9C4-9998-9902-8B054B64116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040688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25880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D61-A174-9744-B53A-3408D234CE22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12784F6E-FB73-D6E4-8C2C-41F75D7C72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5327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2EA8E577-195E-4B1A-BC32-FE3D591B8C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58673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0646FBB3-9915-B3D3-1716-7B2E4AB38A5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450050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3FC8EB0-667A-22B3-F4B0-8DFF686556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3950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2B3EE353-935F-47F2-890E-86D599D69C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5325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7650EC49-433E-6552-2740-6B65EFF948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9108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38A397CC-14F5-DD8F-565D-CB576CCEF0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891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2C714DB-CD94-62D4-DBCC-363F77E96B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56675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21725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556C-E537-DE40-9663-6FAEC53F0FF8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8983A1D-4D6A-20A1-246F-D90E834D6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1EC548A2-BD24-9227-A6CD-523677F543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1FDEC21-8808-4E1C-5D07-37DFA51175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5" y="1449388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C093E107-B829-CEE4-9295-B1B84BEAE14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7212" y="3852000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69E9327-75CD-A94E-4F13-6C971DCF19A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40688" y="3852000"/>
            <a:ext cx="3455986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7B4B6D58-21AF-6B45-2504-E31EDE54A3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95325" y="3852000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DE1E8A-EFD6-AFE3-8FC8-A8781D081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90B09162-F170-AF79-446C-2FD12FCF2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67212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B625CAA8-22B4-0491-F50F-A64DB81820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0688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233B6E2E-EE51-3815-5A82-51C2D0BDCD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5325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C029808-0B66-A918-9826-7CF902C7DE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7212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0C032556-82F7-0D1B-C717-506C730F768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0688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72543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762A9-F94E-6146-9505-A06588374481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12784F6E-FB73-D6E4-8C2C-41F75D7C72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5327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2EA8E577-195E-4B1A-BC32-FE3D591B8C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58673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0646FBB3-9915-B3D3-1716-7B2E4AB38A5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450050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3FC8EB0-667A-22B3-F4B0-8DFF686556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3950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7650EC49-433E-6552-2740-6B65EFF948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9108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38A397CC-14F5-DD8F-565D-CB576CCEF0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8300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2C714DB-CD94-62D4-DBCC-363F77E96B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56675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FF900A0F-DD38-976A-BFC1-92B5ACB7395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95325" y="3852000"/>
            <a:ext cx="2538000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530B9B83-A2E6-A97A-6B7B-389BCDC2C8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325" y="3299877"/>
            <a:ext cx="253682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CD6A5AE7-8194-069E-96C6-A9A19A691F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5689101"/>
            <a:ext cx="2540001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2" name="Textplatzhalter 19">
            <a:extLst>
              <a:ext uri="{FF2B5EF4-FFF2-40B4-BE49-F238E27FC236}">
                <a16:creationId xmlns:a16="http://schemas.microsoft.com/office/drawing/2014/main" id="{E33B1E40-AEE0-028C-74FA-4DA2F2785C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48050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6CF8C6E7-2EBA-0F42-5F97-0B15A298F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08300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A8581B57-63E2-3060-2AF6-9711ABA1492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5617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15C431B-993D-61F7-28CB-6E9C6E916B2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57560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5F9CC3CC-2D09-5169-EE63-2F307DD025A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448937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05CD9CF5-8030-A2FA-B5F1-BDE8A3AB64F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202837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3318096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lve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68CFD-909B-6C49-AF00-455E0202C815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8983A1D-4D6A-20A1-246F-D90E834D6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1EC548A2-BD24-9227-A6CD-523677F543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248" y="1449389"/>
            <a:ext cx="1622425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1FDEC21-8808-4E1C-5D07-37DFA51175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6" y="144938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C093E107-B829-CEE4-9295-B1B84BEAE14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7212" y="385199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69E9327-75CD-A94E-4F13-6C971DCF19A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40688" y="3852000"/>
            <a:ext cx="1619250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7B4B6D58-21AF-6B45-2504-E31EDE54A3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95326" y="385199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DE1E8A-EFD6-AFE3-8FC8-A8781D081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6" y="5589240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90B09162-F170-AF79-446C-2FD12FCF2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67212" y="5589240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B625CAA8-22B4-0491-F50F-A64DB81820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0688" y="5589240"/>
            <a:ext cx="161999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233B6E2E-EE51-3815-5A82-51C2D0BDCD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5326" y="3204724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C029808-0B66-A918-9826-7CF902C7DE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7212" y="3204724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0C032556-82F7-0D1B-C717-506C730F768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75092" y="3204724"/>
            <a:ext cx="1623171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1C50D6C7-B8FE-16E3-A56F-215DF2E7FD0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532062" y="144938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F254DC50-8CC2-CE50-0FB2-B9D82F2F6F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32062" y="3204724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4356FD2E-817C-6008-A624-C0ED226EC77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02363" y="1449389"/>
            <a:ext cx="1622425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B844240D-6410-EAE1-FBFE-02793B43B5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2362" y="3204724"/>
            <a:ext cx="162242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4729A6D7-E881-5FD5-1C1E-FD7A660187B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40688" y="1449389"/>
            <a:ext cx="1619250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86799E5C-45B4-E8EF-0A33-26FADBDA89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40688" y="3204724"/>
            <a:ext cx="161999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20480596-0358-6167-AD5A-A43149936E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32062" y="385199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99EB327B-0262-FA88-4B41-185878FCDBA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2062" y="5589240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7383DAC6-063E-B185-1200-CBEAF6F1917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03950" y="385199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814D2A83-C214-5D3D-33E5-499378F10F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3950" y="5589240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0C7EA178-EA7E-CEB6-BCCA-A6C695A390C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873502" y="3852000"/>
            <a:ext cx="1623171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67FC58FF-0434-E3CF-0015-FA751A6F2C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74346" y="5589240"/>
            <a:ext cx="162391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2212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ull siz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71D30-BEEA-0E4B-91E3-4DB0354E52B7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0"/>
            <a:ext cx="5988052" cy="685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59880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41314079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iz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BF6DF-4C1B-2240-A802-02A017F3A613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6847926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82F2-A03E-BF48-B6A0-7CC2E6EF6BDF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68F1-40C1-8742-926A-7908F67B8F69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95325" y="278296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Add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5325" y="1376364"/>
            <a:ext cx="10801275" cy="4645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75837" y="6404573"/>
            <a:ext cx="1620837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1251A31-074C-C647-9CA7-63BA51EE48A8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14487" y="6404573"/>
            <a:ext cx="8045451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5325" y="6404573"/>
            <a:ext cx="703263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EC2031EC-4715-FBAB-E65E-0A3E5D91D8E4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133" y="305378"/>
            <a:ext cx="881467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7" r:id="rId2"/>
    <p:sldLayoutId id="2147483715" r:id="rId3"/>
    <p:sldLayoutId id="2147483723" r:id="rId4"/>
    <p:sldLayoutId id="2147483738" r:id="rId5"/>
    <p:sldLayoutId id="2147483739" r:id="rId6"/>
    <p:sldLayoutId id="2147483740" r:id="rId7"/>
    <p:sldLayoutId id="2147483694" r:id="rId8"/>
    <p:sldLayoutId id="2147483737" r:id="rId9"/>
    <p:sldLayoutId id="2147483692" r:id="rId10"/>
    <p:sldLayoutId id="2147483693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5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95" r:id="rId25"/>
    <p:sldLayoutId id="2147483677" r:id="rId26"/>
    <p:sldLayoutId id="2147483679" r:id="rId27"/>
    <p:sldLayoutId id="2147483678" r:id="rId28"/>
    <p:sldLayoutId id="2147483680" r:id="rId29"/>
    <p:sldLayoutId id="2147483681" r:id="rId30"/>
    <p:sldLayoutId id="2147483682" r:id="rId31"/>
    <p:sldLayoutId id="2147483683" r:id="rId32"/>
    <p:sldLayoutId id="2147483663" r:id="rId33"/>
    <p:sldLayoutId id="2147483664" r:id="rId3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6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4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00" indent="-252000" algn="l" defTabSz="914400" rtl="0" eaLnBrk="1" latinLnBrk="0" hangingPunct="1">
        <a:lnSpc>
          <a:spcPct val="100000"/>
        </a:lnSpc>
        <a:spcBef>
          <a:spcPts val="4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orient="horz" pos="913" userDrawn="1">
          <p15:clr>
            <a:srgbClr val="A4A3A4"/>
          </p15:clr>
        </p15:guide>
        <p15:guide id="5" pos="3772" userDrawn="1">
          <p15:clr>
            <a:srgbClr val="A4A3A4"/>
          </p15:clr>
        </p15:guide>
        <p15:guide id="6" pos="3908" userDrawn="1">
          <p15:clr>
            <a:srgbClr val="A4A3A4"/>
          </p15:clr>
        </p15:guide>
        <p15:guide id="7" pos="2751" userDrawn="1">
          <p15:clr>
            <a:srgbClr val="A4A3A4"/>
          </p15:clr>
        </p15:guide>
        <p15:guide id="8" pos="2615" userDrawn="1">
          <p15:clr>
            <a:srgbClr val="A4A3A4"/>
          </p15:clr>
        </p15:guide>
        <p15:guide id="9" pos="1595" userDrawn="1">
          <p15:clr>
            <a:srgbClr val="A4A3A4"/>
          </p15:clr>
        </p15:guide>
        <p15:guide id="10" pos="1459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065" userDrawn="1">
          <p15:clr>
            <a:srgbClr val="A4A3A4"/>
          </p15:clr>
        </p15:guide>
        <p15:guide id="13" pos="6085" userDrawn="1">
          <p15:clr>
            <a:srgbClr val="A4A3A4"/>
          </p15:clr>
        </p15:guide>
        <p15:guide id="14" pos="6221" userDrawn="1">
          <p15:clr>
            <a:srgbClr val="A4A3A4"/>
          </p15:clr>
        </p15:guide>
        <p15:guide id="15" pos="2172" userDrawn="1">
          <p15:clr>
            <a:srgbClr val="A4A3A4"/>
          </p15:clr>
        </p15:guide>
        <p15:guide id="16" pos="2036" userDrawn="1">
          <p15:clr>
            <a:srgbClr val="A4A3A4"/>
          </p15:clr>
        </p15:guide>
        <p15:guide id="17" pos="3194" userDrawn="1">
          <p15:clr>
            <a:srgbClr val="A4A3A4"/>
          </p15:clr>
        </p15:guide>
        <p15:guide id="18" pos="3330" userDrawn="1">
          <p15:clr>
            <a:srgbClr val="A4A3A4"/>
          </p15:clr>
        </p15:guide>
        <p15:guide id="19" pos="881" userDrawn="1">
          <p15:clr>
            <a:srgbClr val="A4A3A4"/>
          </p15:clr>
        </p15:guide>
        <p15:guide id="20" pos="1017" userDrawn="1">
          <p15:clr>
            <a:srgbClr val="A4A3A4"/>
          </p15:clr>
        </p15:guide>
        <p15:guide id="21" pos="4351" userDrawn="1">
          <p15:clr>
            <a:srgbClr val="A4A3A4"/>
          </p15:clr>
        </p15:guide>
        <p15:guide id="22" pos="4487" userDrawn="1">
          <p15:clr>
            <a:srgbClr val="A4A3A4"/>
          </p15:clr>
        </p15:guide>
        <p15:guide id="23" pos="5508" userDrawn="1">
          <p15:clr>
            <a:srgbClr val="A4A3A4"/>
          </p15:clr>
        </p15:guide>
        <p15:guide id="24" pos="5642" userDrawn="1">
          <p15:clr>
            <a:srgbClr val="A4A3A4"/>
          </p15:clr>
        </p15:guide>
        <p15:guide id="25" pos="6663" userDrawn="1">
          <p15:clr>
            <a:srgbClr val="A4A3A4"/>
          </p15:clr>
        </p15:guide>
        <p15:guide id="26" pos="6799" userDrawn="1">
          <p15:clr>
            <a:srgbClr val="A4A3A4"/>
          </p15:clr>
        </p15:guide>
        <p15:guide id="27" orient="horz" pos="229" userDrawn="1">
          <p15:clr>
            <a:srgbClr val="A4A3A4"/>
          </p15:clr>
        </p15:guide>
        <p15:guide id="28" orient="horz" pos="867" userDrawn="1">
          <p15:clr>
            <a:srgbClr val="A4A3A4"/>
          </p15:clr>
        </p15:guide>
        <p15:guide id="29" orient="horz" pos="379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ie-mines-paristech/lca_algebraic/blob/main/notebooks/example-notebook.ipynb" TargetMode="External"/><Relationship Id="rId2" Type="http://schemas.openxmlformats.org/officeDocument/2006/relationships/hyperlink" Target="https://github.com/oie-mines-paristech/lca_algebraic?tab=readme-ov-file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21/acs.est.3c03190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2C1F0B-3E83-4965-7ABE-B3C9D3A10F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7368" y="341218"/>
            <a:ext cx="4330445" cy="1224136"/>
          </a:xfrm>
          <a:prstGeom prst="rect">
            <a:avLst/>
          </a:prstGeom>
          <a:solidFill>
            <a:srgbClr val="00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C900B9-69A9-16D6-9DB4-FE565862D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80" y="2867622"/>
            <a:ext cx="8045451" cy="687392"/>
          </a:xfrm>
        </p:spPr>
        <p:txBody>
          <a:bodyPr/>
          <a:lstStyle/>
          <a:p>
            <a:r>
              <a:rPr lang="en-GB" dirty="0" err="1"/>
              <a:t>lca</a:t>
            </a:r>
            <a:r>
              <a:rPr lang="en-GB" dirty="0"/>
              <a:t> algebraic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39853F-959A-48E6-ACE2-F62A38A8ED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Alvaro HAHN MENACHO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4E10A4B-A01C-C271-87F1-8054278DB4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noProof="0" dirty="0"/>
              <a:t>Lima, 5 </a:t>
            </a:r>
            <a:r>
              <a:rPr lang="en-GB" noProof="0" dirty="0" err="1"/>
              <a:t>febrero</a:t>
            </a:r>
            <a:r>
              <a:rPr lang="en-GB" noProof="0" dirty="0"/>
              <a:t> 2025</a:t>
            </a:r>
          </a:p>
        </p:txBody>
      </p:sp>
      <p:pic>
        <p:nvPicPr>
          <p:cNvPr id="16" name="Picture 15" descr="A logo with white dots&#10;&#10;Description automatically generated">
            <a:extLst>
              <a:ext uri="{FF2B5EF4-FFF2-40B4-BE49-F238E27FC236}">
                <a16:creationId xmlns:a16="http://schemas.microsoft.com/office/drawing/2014/main" id="{D14E0152-074B-75F6-5459-D664DC5856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53" y="198758"/>
            <a:ext cx="1739900" cy="1079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8C8CE1-8D2D-81FD-5C2E-0ACB7F8D68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0142" y="611396"/>
            <a:ext cx="489401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H" sz="1200" b="1" dirty="0">
                <a:solidFill>
                  <a:schemeClr val="bg1"/>
                </a:solidFill>
                <a:latin typeface="Aptos SemiBold" panose="020B0004020202020204" pitchFamily="34" charset="0"/>
              </a:rPr>
              <a:t>Center for Nuclear Engineering and Sciences</a:t>
            </a:r>
          </a:p>
          <a:p>
            <a:pPr algn="l"/>
            <a:r>
              <a:rPr lang="en-CH" sz="1200" b="1" dirty="0">
                <a:solidFill>
                  <a:schemeClr val="bg1"/>
                </a:solidFill>
                <a:latin typeface="Aptos SemiBold" panose="020B0004020202020204" pitchFamily="34" charset="0"/>
              </a:rPr>
              <a:t>Center for Energy and Environmental Sciences</a:t>
            </a:r>
          </a:p>
        </p:txBody>
      </p:sp>
    </p:spTree>
    <p:extLst>
      <p:ext uri="{BB962C8B-B14F-4D97-AF65-F5344CB8AC3E}">
        <p14:creationId xmlns:p14="http://schemas.microsoft.com/office/powerpoint/2010/main" val="324790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AD3CCA-B124-CAF2-3CED-6D998F02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¿</a:t>
            </a:r>
            <a:r>
              <a:rPr lang="en-US" b="1" dirty="0" err="1"/>
              <a:t>Qué</a:t>
            </a:r>
            <a:r>
              <a:rPr lang="en-US" b="1" dirty="0"/>
              <a:t> es </a:t>
            </a:r>
            <a:r>
              <a:rPr lang="en-US" b="1" dirty="0" err="1"/>
              <a:t>lca_algebraic</a:t>
            </a:r>
            <a:r>
              <a:rPr lang="en-US" b="1" dirty="0"/>
              <a:t>?</a:t>
            </a:r>
            <a:br>
              <a:rPr lang="en-US" b="1" dirty="0"/>
            </a:br>
            <a:endParaRPr lang="de-CH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012D7C-693E-9CBD-EB2C-BB42190E1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772816"/>
            <a:ext cx="10369227" cy="4644616"/>
          </a:xfrm>
        </p:spPr>
        <p:txBody>
          <a:bodyPr/>
          <a:lstStyle/>
          <a:p>
            <a:r>
              <a:rPr lang="es-ES" b="1" dirty="0" err="1"/>
              <a:t>lca_algebraic</a:t>
            </a:r>
            <a:r>
              <a:rPr lang="es-ES" dirty="0"/>
              <a:t> es una extensión de </a:t>
            </a:r>
            <a:r>
              <a:rPr lang="es-ES" b="1" dirty="0"/>
              <a:t>Brightway2</a:t>
            </a:r>
            <a:r>
              <a:rPr lang="es-ES" dirty="0"/>
              <a:t> que permite definir inventarios paramétricos y calcular los impactos de ACV, siendo ideal para análisis de Monte Carlo y análisis de sensibilidad global.</a:t>
            </a:r>
          </a:p>
          <a:p>
            <a:endParaRPr lang="es-ES" dirty="0"/>
          </a:p>
          <a:p>
            <a:r>
              <a:rPr lang="es-ES" dirty="0"/>
              <a:t>Aprovecha la potencia de </a:t>
            </a:r>
            <a:r>
              <a:rPr lang="es-ES" b="1" dirty="0" err="1"/>
              <a:t>SymPy</a:t>
            </a:r>
            <a:r>
              <a:rPr lang="es-ES" dirty="0"/>
              <a:t> para escribir fórmulas paramétricas como expresiones estándar en Python.</a:t>
            </a:r>
          </a:p>
          <a:p>
            <a:endParaRPr lang="es-ES" dirty="0"/>
          </a:p>
          <a:p>
            <a:r>
              <a:rPr lang="es-ES" b="1" dirty="0" err="1"/>
              <a:t>lca_algebraic</a:t>
            </a:r>
            <a:r>
              <a:rPr lang="es-ES" dirty="0"/>
              <a:t> incluye una serie de funciones que facilitan:</a:t>
            </a:r>
          </a:p>
          <a:p>
            <a:endParaRPr lang="es-ES" dirty="0"/>
          </a:p>
          <a:p>
            <a:pPr marL="514350" indent="-514350">
              <a:buFont typeface="+mj-lt"/>
              <a:buAutoNum type="romanLcPeriod"/>
            </a:pPr>
            <a:r>
              <a:rPr lang="es-ES" dirty="0"/>
              <a:t>Definir actividades de manera sencilla</a:t>
            </a:r>
            <a:endParaRPr lang="de-CH" dirty="0"/>
          </a:p>
          <a:p>
            <a:pPr marL="514350" indent="-514350">
              <a:buFont typeface="+mj-lt"/>
              <a:buAutoNum type="romanLcPeriod"/>
            </a:pPr>
            <a:r>
              <a:rPr lang="es-ES" dirty="0"/>
              <a:t>Definir y gestionar parámetros de forma flexible.</a:t>
            </a:r>
            <a:endParaRPr lang="de-CH" dirty="0"/>
          </a:p>
          <a:p>
            <a:pPr marL="514350" indent="-514350">
              <a:buFont typeface="+mj-lt"/>
              <a:buAutoNum type="romanLcPeriod"/>
            </a:pPr>
            <a:r>
              <a:rPr lang="es-ES" dirty="0"/>
              <a:t>Llevar a cabo simulaciones de Monte Carlo y análisis de sensibilidad global</a:t>
            </a:r>
          </a:p>
        </p:txBody>
      </p:sp>
      <p:pic>
        <p:nvPicPr>
          <p:cNvPr id="9" name="Picture 8" descr="A blue logo with white text&#10;&#10;Description automatically generated">
            <a:extLst>
              <a:ext uri="{FF2B5EF4-FFF2-40B4-BE49-F238E27FC236}">
                <a16:creationId xmlns:a16="http://schemas.microsoft.com/office/drawing/2014/main" id="{AA4CE60E-C21D-3530-25DE-1316B5584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488" y="4050870"/>
            <a:ext cx="1152128" cy="950506"/>
          </a:xfrm>
          <a:prstGeom prst="rect">
            <a:avLst/>
          </a:prstGeom>
        </p:spPr>
      </p:pic>
      <p:pic>
        <p:nvPicPr>
          <p:cNvPr id="11" name="Picture 10" descr="A logo with a leaf&#10;&#10;Description automatically generated">
            <a:extLst>
              <a:ext uri="{FF2B5EF4-FFF2-40B4-BE49-F238E27FC236}">
                <a16:creationId xmlns:a16="http://schemas.microsoft.com/office/drawing/2014/main" id="{FCEB6A8F-A517-1770-F634-A372E6CBCC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312" y="4028958"/>
            <a:ext cx="1399757" cy="100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7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877B-AB01-E097-57F8-DAD21928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¿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instalar</a:t>
            </a:r>
            <a:r>
              <a:rPr lang="en-US" dirty="0"/>
              <a:t> </a:t>
            </a:r>
            <a:r>
              <a:rPr lang="en-US" dirty="0" err="1"/>
              <a:t>lca_algebraic</a:t>
            </a:r>
            <a:r>
              <a:rPr lang="en-US" dirty="0"/>
              <a:t>?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CFFC1-440F-062A-0816-C64B91753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/>
              <a:t>- </a:t>
            </a:r>
            <a:r>
              <a:rPr lang="en-US" sz="1400" b="1" dirty="0" err="1"/>
              <a:t>Repositorio</a:t>
            </a:r>
            <a:r>
              <a:rPr lang="en-US" sz="1400" b="1" dirty="0"/>
              <a:t>: </a:t>
            </a:r>
            <a:r>
              <a:rPr lang="en-US" sz="1400" dirty="0">
                <a:hlinkClick r:id="rId2"/>
              </a:rPr>
              <a:t>https://github.com/oie-mines-paristech/lca_algebraic?tab=readme-ov-file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- </a:t>
            </a:r>
            <a:r>
              <a:rPr lang="en-US" sz="1400" b="1" dirty="0" err="1"/>
              <a:t>Documentación</a:t>
            </a:r>
            <a:r>
              <a:rPr lang="en-US" sz="1400" b="1" dirty="0"/>
              <a:t> y </a:t>
            </a:r>
            <a:r>
              <a:rPr lang="en-US" sz="1400" b="1" dirty="0" err="1"/>
              <a:t>ejemplos</a:t>
            </a:r>
            <a:r>
              <a:rPr lang="en-US" sz="1400" b="1" dirty="0"/>
              <a:t>: </a:t>
            </a:r>
            <a:r>
              <a:rPr lang="en-US" sz="1400" dirty="0">
                <a:hlinkClick r:id="rId3"/>
              </a:rPr>
              <a:t>https://github.com/oie-mines-paristech/lca_algebraic/blob/main/notebooks/example-notebook.ipynb</a:t>
            </a:r>
            <a:endParaRPr lang="en-US" sz="1400" dirty="0"/>
          </a:p>
          <a:p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6845A-8F89-A40B-C915-BE9910D0F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67FB-9760-AB48-99CD-EF4F3137487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C250-D1E2-A112-8DD8-511FE45F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3A6-F475-755A-87A3-C65CB336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16303A-2218-734E-74BE-37032A954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1376773"/>
            <a:ext cx="6900689" cy="1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74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AD3CCA-B124-CAF2-3CED-6D998F02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78296"/>
            <a:ext cx="8964613" cy="918456"/>
          </a:xfrm>
        </p:spPr>
        <p:txBody>
          <a:bodyPr/>
          <a:lstStyle/>
          <a:p>
            <a:r>
              <a:rPr lang="en-US" b="1" dirty="0"/>
              <a:t>Parametric Life Cycle Assessment of Nuclear Power for Simplified Models</a:t>
            </a:r>
            <a:br>
              <a:rPr lang="en-US" b="1" dirty="0"/>
            </a:br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448736-E02D-AFAA-C3AD-5B99971C5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99" y="1601310"/>
            <a:ext cx="5517739" cy="419554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52C6D7-5B95-F1F3-7A21-FDE4D9F59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376773"/>
            <a:ext cx="10801349" cy="4644616"/>
          </a:xfrm>
        </p:spPr>
        <p:txBody>
          <a:bodyPr/>
          <a:lstStyle/>
          <a:p>
            <a:endParaRPr lang="en-US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D8C79-D772-9D25-CD76-CE2C6D6E6F59}"/>
              </a:ext>
            </a:extLst>
          </p:cNvPr>
          <p:cNvSpPr txBox="1"/>
          <p:nvPr/>
        </p:nvSpPr>
        <p:spPr>
          <a:xfrm>
            <a:off x="6446412" y="5405836"/>
            <a:ext cx="515066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CH" sz="2000" dirty="0">
                <a:hlinkClick r:id="rId3"/>
              </a:rPr>
              <a:t>https://doi.org/10.1021/acs.est.3c03190</a:t>
            </a:r>
            <a:endParaRPr lang="de-CH" sz="2000" dirty="0"/>
          </a:p>
          <a:p>
            <a:pPr algn="l"/>
            <a:endParaRPr lang="de-CH" sz="2000" dirty="0"/>
          </a:p>
        </p:txBody>
      </p:sp>
    </p:spTree>
    <p:extLst>
      <p:ext uri="{BB962C8B-B14F-4D97-AF65-F5344CB8AC3E}">
        <p14:creationId xmlns:p14="http://schemas.microsoft.com/office/powerpoint/2010/main" val="429351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3B3A-0DCD-3DB5-7506-996CF64B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¿Cuál es el potencial de calentamiento global (GWP) de la producción de energía nuclear, expresado en kg CO₂-</a:t>
            </a:r>
            <a:r>
              <a:rPr lang="es-ES" dirty="0" err="1"/>
              <a:t>eq</a:t>
            </a:r>
            <a:r>
              <a:rPr lang="es-ES" dirty="0"/>
              <a:t> por kWh?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C2859-3E22-1C63-4511-8956C009E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67FB-9760-AB48-99CD-EF4F3137487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141E1-96D4-C1B8-4007-70B803A9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D967F-0674-3C85-712A-20013715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5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A49F84-D34B-9D5C-F97F-93AB6154B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916832"/>
            <a:ext cx="4064040" cy="39953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BB2729-4D54-9CD1-BB5F-9B4F983509F0}"/>
              </a:ext>
            </a:extLst>
          </p:cNvPr>
          <p:cNvSpPr txBox="1"/>
          <p:nvPr/>
        </p:nvSpPr>
        <p:spPr>
          <a:xfrm>
            <a:off x="6240016" y="2132856"/>
            <a:ext cx="3586175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Segun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estudios</a:t>
            </a:r>
            <a:r>
              <a:rPr lang="en-US" sz="2000" dirty="0"/>
              <a:t> </a:t>
            </a:r>
            <a:r>
              <a:rPr lang="en-US" sz="2000" dirty="0" err="1"/>
              <a:t>publicados</a:t>
            </a:r>
            <a:r>
              <a:rPr lang="en-US" sz="2000" dirty="0"/>
              <a:t>…</a:t>
            </a:r>
          </a:p>
          <a:p>
            <a:pPr algn="l"/>
            <a:endParaRPr lang="en-US" sz="2000" dirty="0"/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Entre 3 y 220 g CO</a:t>
            </a:r>
            <a:r>
              <a:rPr lang="en-US" sz="2000" baseline="-25000" dirty="0"/>
              <a:t>2</a:t>
            </a:r>
            <a:r>
              <a:rPr lang="en-US" sz="2000" dirty="0"/>
              <a:t>-eq </a:t>
            </a:r>
            <a:endParaRPr lang="de-CH" sz="2000" dirty="0"/>
          </a:p>
        </p:txBody>
      </p:sp>
    </p:spTree>
    <p:extLst>
      <p:ext uri="{BB962C8B-B14F-4D97-AF65-F5344CB8AC3E}">
        <p14:creationId xmlns:p14="http://schemas.microsoft.com/office/powerpoint/2010/main" val="234046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3B3A-0DCD-3DB5-7506-996CF64B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¿Cuál es el potencial de calentamiento global (GWP) de la producción de energía nuclear, expresado en kg CO₂-</a:t>
            </a:r>
            <a:r>
              <a:rPr lang="es-ES" dirty="0" err="1"/>
              <a:t>eq</a:t>
            </a:r>
            <a:r>
              <a:rPr lang="es-ES" dirty="0"/>
              <a:t> por kWh?</a:t>
            </a:r>
            <a:br>
              <a:rPr lang="es-ES" dirty="0"/>
            </a:br>
            <a:br>
              <a:rPr lang="es-ES" dirty="0"/>
            </a:b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C2859-3E22-1C63-4511-8956C009E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67FB-9760-AB48-99CD-EF4F3137487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141E1-96D4-C1B8-4007-70B803A9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D967F-0674-3C85-712A-20013715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6</a:t>
            </a:fld>
            <a:endParaRPr lang="en-GB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EC3CF0-F834-2EDB-61FA-F536DA03B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15" y="2057274"/>
            <a:ext cx="3093809" cy="3378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EEA835-524B-52E6-2703-4EBE99180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631" y="2068373"/>
            <a:ext cx="2435146" cy="33787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D7C3D0-91B9-D2F2-2D8F-1D6B33453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184" y="2068373"/>
            <a:ext cx="1440160" cy="33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7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7741-C80D-78BB-7423-E00E90FC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hipótesis/parámetros explican esta variedad de resultados?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03B9-AA14-D3E0-0499-D0FA86C9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67FB-9760-AB48-99CD-EF4F3137487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1D8E4-F726-C419-F43A-7F906949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77EE8-A153-96C2-B828-86348167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7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633929-3CAC-C615-2B9D-28D928593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266300"/>
            <a:ext cx="7919148" cy="4948561"/>
          </a:xfrm>
          <a:prstGeom prst="rect">
            <a:avLst/>
          </a:prstGeom>
        </p:spPr>
      </p:pic>
      <p:pic>
        <p:nvPicPr>
          <p:cNvPr id="9" name="Picture 8" descr="A logo with a leaf&#10;&#10;Description automatically generated">
            <a:extLst>
              <a:ext uri="{FF2B5EF4-FFF2-40B4-BE49-F238E27FC236}">
                <a16:creationId xmlns:a16="http://schemas.microsoft.com/office/drawing/2014/main" id="{31C5FD24-E84B-2C72-DC46-7640CA239E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1450069"/>
            <a:ext cx="1399757" cy="10026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9A7580-AE0C-0741-89B7-5F24FF72C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0699" y="2752951"/>
            <a:ext cx="2873627" cy="40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6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B11F-327E-0B6D-ECF8-CEC8D1FB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57DE9-65C9-C019-A29A-0B7DC039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67FB-9760-AB48-99CD-EF4F3137487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D5568-8216-1296-BF18-6B8B1CE1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BDB60-54C8-3A9C-565D-E46F761A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8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347FF7-DB6E-471A-307D-2C2819F64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896" y="836611"/>
            <a:ext cx="7218042" cy="543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9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2953-3BA6-B8C5-CFBD-E5561D58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sensibilidad</a:t>
            </a:r>
            <a:r>
              <a:rPr lang="en-US" dirty="0"/>
              <a:t> global (GSA)</a:t>
            </a:r>
            <a:br>
              <a:rPr lang="en-US" dirty="0"/>
            </a:b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A2739-5A4E-6C3F-A87A-40950026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67FB-9760-AB48-99CD-EF4F3137487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36E2D-FF06-1D4B-668B-BC5078FC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A0DB7-09F9-AC30-3F9F-D6D64212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9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0EBC99-280F-9073-6297-990E40B87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502" y="836712"/>
            <a:ext cx="8803419" cy="541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21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4136-438D-8A7E-9D31-FA10D350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Modelos</a:t>
            </a:r>
            <a:r>
              <a:rPr lang="de-CH" dirty="0"/>
              <a:t> </a:t>
            </a:r>
            <a:r>
              <a:rPr lang="de-CH" dirty="0" err="1"/>
              <a:t>simplificados</a:t>
            </a:r>
            <a:r>
              <a:rPr lang="de-CH" dirty="0"/>
              <a:t> </a:t>
            </a:r>
            <a:r>
              <a:rPr lang="de-CH" dirty="0" err="1"/>
              <a:t>por</a:t>
            </a:r>
            <a:r>
              <a:rPr lang="de-CH" dirty="0"/>
              <a:t> </a:t>
            </a:r>
            <a:r>
              <a:rPr lang="de-CH" dirty="0" err="1"/>
              <a:t>categoría</a:t>
            </a:r>
            <a:r>
              <a:rPr lang="de-CH" dirty="0"/>
              <a:t> de </a:t>
            </a:r>
            <a:r>
              <a:rPr lang="de-CH" dirty="0" err="1"/>
              <a:t>impacto</a:t>
            </a:r>
            <a:r>
              <a:rPr lang="de-CH" dirty="0"/>
              <a:t>, a </a:t>
            </a:r>
            <a:r>
              <a:rPr lang="de-CH" dirty="0" err="1"/>
              <a:t>partir</a:t>
            </a:r>
            <a:r>
              <a:rPr lang="de-CH" dirty="0"/>
              <a:t> del </a:t>
            </a:r>
            <a:r>
              <a:rPr lang="de-CH" dirty="0" err="1"/>
              <a:t>modelo</a:t>
            </a:r>
            <a:r>
              <a:rPr lang="de-CH" dirty="0"/>
              <a:t> </a:t>
            </a:r>
            <a:r>
              <a:rPr lang="de-CH" dirty="0" err="1"/>
              <a:t>completo</a:t>
            </a:r>
            <a:r>
              <a:rPr lang="de-CH" dirty="0"/>
              <a:t> de ACV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BE2B1C-6C15-28F3-D223-6EDB7A398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91595"/>
            <a:ext cx="10801349" cy="4644616"/>
          </a:xfrm>
        </p:spPr>
        <p:txBody>
          <a:bodyPr/>
          <a:lstStyle/>
          <a:p>
            <a:r>
              <a:rPr lang="es-ES" dirty="0"/>
              <a:t>GSA proporciona una lista de </a:t>
            </a:r>
            <a:r>
              <a:rPr lang="es-ES" b="1" dirty="0"/>
              <a:t>los parámetros más influyentes </a:t>
            </a:r>
            <a:r>
              <a:rPr lang="es-ES" dirty="0"/>
              <a:t>para cada categoría de impacto, lo que permite generar </a:t>
            </a:r>
            <a:r>
              <a:rPr lang="es-ES" b="1" dirty="0"/>
              <a:t>modelos simplificados</a:t>
            </a:r>
            <a:r>
              <a:rPr lang="es-ES" dirty="0"/>
              <a:t>, es decir, ecuaciones formales con la cantidad </a:t>
            </a:r>
            <a:r>
              <a:rPr lang="es-ES" b="1" dirty="0"/>
              <a:t>mínima de parámetros </a:t>
            </a:r>
            <a:r>
              <a:rPr lang="es-ES" dirty="0"/>
              <a:t>que pueden explicar la </a:t>
            </a:r>
            <a:r>
              <a:rPr lang="es-ES" b="1" dirty="0"/>
              <a:t>variación máxima</a:t>
            </a:r>
            <a:r>
              <a:rPr lang="es-ES" dirty="0"/>
              <a:t>. </a:t>
            </a:r>
          </a:p>
          <a:p>
            <a:endParaRPr lang="es-ES" dirty="0"/>
          </a:p>
          <a:p>
            <a:r>
              <a:rPr lang="es-ES" dirty="0"/>
              <a:t>Estos modelos pueden utilizarse para obtener estimaciones de los impactos del ciclo de vida de la energía nuclear sin tener que ejecutar un modelo de ACV completo. </a:t>
            </a:r>
          </a:p>
          <a:p>
            <a:endParaRPr lang="es-ES" dirty="0"/>
          </a:p>
          <a:p>
            <a:r>
              <a:rPr lang="es-ES" dirty="0"/>
              <a:t>* </a:t>
            </a:r>
            <a:r>
              <a:rPr lang="es-ES" i="1" dirty="0"/>
              <a:t>Son válidos siempre que los valores de los parámetros se mantengan dentro de su respectivo rango de definición. </a:t>
            </a:r>
            <a:endParaRPr lang="de-CH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9F849-934A-D0B2-5B42-7DBDD82F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67FB-9760-AB48-99CD-EF4F3137487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5620B-BF68-6496-5148-F017C3E4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46F76-0F0E-AB85-1173-C035449F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748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97533A4-90FA-BC08-9D30-6FAB13A833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Gracias!</a:t>
            </a:r>
            <a:endParaRPr lang="de-CH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7799877-2B3F-247E-5F8A-4A8BC8C8D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3848791"/>
            <a:ext cx="8045451" cy="1080120"/>
          </a:xfrm>
        </p:spPr>
        <p:txBody>
          <a:bodyPr/>
          <a:lstStyle/>
          <a:p>
            <a:r>
              <a:rPr lang="en-US" dirty="0" err="1"/>
              <a:t>Preguntas</a:t>
            </a:r>
            <a:r>
              <a:rPr lang="en-US" dirty="0"/>
              <a:t>? </a:t>
            </a:r>
          </a:p>
          <a:p>
            <a:r>
              <a:rPr lang="en-US" dirty="0" err="1"/>
              <a:t>Comentarios</a:t>
            </a:r>
            <a:r>
              <a:rPr lang="en-US" dirty="0"/>
              <a:t>?</a:t>
            </a:r>
          </a:p>
          <a:p>
            <a:r>
              <a:rPr lang="en-US" dirty="0"/>
              <a:t>Ideas?</a:t>
            </a:r>
          </a:p>
          <a:p>
            <a:r>
              <a:rPr lang="en-US" dirty="0"/>
              <a:t>Es algo que </a:t>
            </a:r>
            <a:r>
              <a:rPr lang="en-US" dirty="0" err="1"/>
              <a:t>podriais</a:t>
            </a:r>
            <a:r>
              <a:rPr lang="en-US" dirty="0"/>
              <a:t> usar?</a:t>
            </a:r>
          </a:p>
          <a:p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76710-6766-D041-B298-2920ED7C888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571163" y="6403975"/>
            <a:ext cx="1620837" cy="144463"/>
          </a:xfrm>
        </p:spPr>
        <p:txBody>
          <a:bodyPr/>
          <a:lstStyle/>
          <a:p>
            <a:fld id="{DDFE67FB-9760-AB48-99CD-EF4F31374870}" type="datetime1">
              <a:rPr lang="de-CH" noProof="0" smtClean="0"/>
              <a:t>03.02.2025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BF49-E554-B531-47B5-7D416C52442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03975"/>
            <a:ext cx="8045450" cy="144463"/>
          </a:xfrm>
        </p:spPr>
        <p:txBody>
          <a:bodyPr/>
          <a:lstStyle/>
          <a:p>
            <a:r>
              <a:rPr lang="en-US" noProof="0"/>
              <a:t>PSI Centers for Nuclear Engineering and Sciences &amp; Energy and Environmental Sciences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982BA-5556-D775-FA31-C56E83B04E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03975"/>
            <a:ext cx="703263" cy="144463"/>
          </a:xfr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11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689158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A0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PSI CEE V8" id="{2BB4AEE5-8367-4671-B632-010E068763F1}" vid="{538D6FCE-8F02-425D-84A1-A00371120DDA}"/>
    </a:ext>
  </a:extLst>
</a:theme>
</file>

<file path=ppt/theme/theme2.xml><?xml version="1.0" encoding="utf-8"?>
<a:theme xmlns:a="http://schemas.openxmlformats.org/drawingml/2006/main" name="Office Theme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96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96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2006/documentManagement/types"/>
    <ds:schemaRef ds:uri="http://purl.org/dc/elements/1.1/"/>
    <ds:schemaRef ds:uri="http://www.w3.org/XML/1998/namespace"/>
    <ds:schemaRef ds:uri="bc24777f-78b6-4f3c-a73a-d5fa08e4d537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c9077d15-72ed-4fec-bcfe-3472729e9195"/>
  </ds:schemaRefs>
</ds:datastoreItem>
</file>

<file path=customXml/itemProps2.xml><?xml version="1.0" encoding="utf-8"?>
<ds:datastoreItem xmlns:ds="http://schemas.openxmlformats.org/officeDocument/2006/customXml" ds:itemID="{7B9C8326-17BB-45BD-9C1C-A05512924E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Benutzerdefiniertes Design</Template>
  <TotalTime>0</TotalTime>
  <Words>661</Words>
  <Application>Microsoft Office PowerPoint</Application>
  <PresentationFormat>Widescreen</PresentationFormat>
  <Paragraphs>85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SemiBold</vt:lpstr>
      <vt:lpstr>Arial</vt:lpstr>
      <vt:lpstr>Benutzerdefiniertes Design</vt:lpstr>
      <vt:lpstr>lca algebraic</vt:lpstr>
      <vt:lpstr>¿Qué es lca_algebraic? </vt:lpstr>
      <vt:lpstr>¿ Cómo instalar lca_algebraic?</vt:lpstr>
      <vt:lpstr>Parametric Life Cycle Assessment of Nuclear Power for Simplified Models </vt:lpstr>
      <vt:lpstr>¿Cuál es el potencial de calentamiento global (GWP) de la producción de energía nuclear, expresado en kg CO₂-eq por kWh?</vt:lpstr>
      <vt:lpstr>¿Cuál es el potencial de calentamiento global (GWP) de la producción de energía nuclear, expresado en kg CO₂-eq por kWh?  </vt:lpstr>
      <vt:lpstr>¿Qué hipótesis/parámetros explican esta variedad de resultados?</vt:lpstr>
      <vt:lpstr>Resultados</vt:lpstr>
      <vt:lpstr>Análisis de sensibilidad global (GSA) </vt:lpstr>
      <vt:lpstr>Modelos simplificados por categoría de impacto, a partir del modelo completo de ACV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lca algebraic</dc:title>
  <dc:creator>Kerchof Carolyn Brett</dc:creator>
  <dc:description>erstellt durch Vorlagenbauer.ch</dc:description>
  <cp:lastModifiedBy>Hahn Menacho Alvaro Jose</cp:lastModifiedBy>
  <cp:revision>9</cp:revision>
  <dcterms:created xsi:type="dcterms:W3CDTF">2024-08-05T16:22:00Z</dcterms:created>
  <dcterms:modified xsi:type="dcterms:W3CDTF">2025-02-03T15:04:49Z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